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22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39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109728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46304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10312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100584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82880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18320" y="173736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246888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2834640"/>
            <a:ext cx="91440" cy="9144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2651760"/>
            <a:ext cx="91440" cy="91440"/>
          </a:xfrm>
          <a:prstGeom prst="ellipse">
            <a:avLst/>
          </a:prstGeom>
          <a:solidFill>
            <a:srgbClr val="00D9A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2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ACADEMIC &amp; ENGINEERING PROGRESS PRESENTATION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VoltNet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Decentralized, AI-Driven Smart EV Charging Infrastructure with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Telemetry Verification &amp; Dynamic Grid Pricing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3474720" cy="0"/>
          </a:xfrm>
          <a:prstGeom prst="line">
            <a:avLst/>
          </a:prstGeom>
          <a:noFill/>
          <a:ln w="31750">
            <a:solidFill>
              <a:srgbClr val="00D9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51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DOMAIN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4251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(Ethereum) · IoT (MQTT) · Machine Learning (FastAPI)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636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EVALUATION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46360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(Architecture Design, Smart Contract Core &amp; Digital Twin)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0200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REPOSITORY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5020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· github.com/shreyan707/ev-charging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</a:t>
            </a:r>
            <a:endParaRPr lang="en-US" sz="9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FBAE37E-FFC0-5CA2-B9FF-0115D5F73832}"/>
              </a:ext>
            </a:extLst>
          </p:cNvPr>
          <p:cNvSpPr/>
          <p:nvPr/>
        </p:nvSpPr>
        <p:spPr>
          <a:xfrm>
            <a:off x="502920" y="54041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AFA93EA0-F856-0F2A-A0A5-47D04FB3A5BB}"/>
              </a:ext>
            </a:extLst>
          </p:cNvPr>
          <p:cNvSpPr/>
          <p:nvPr/>
        </p:nvSpPr>
        <p:spPr>
          <a:xfrm>
            <a:off x="2697480" y="5397171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 Nayak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23BKT0039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Statement: The Trilemma of Legacy EV Charging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75304" cy="4800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32304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STRESS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Overload &amp; Inelastic Pricing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1181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 Level-2 &amp; DCFC fast charging concentrates in evening domestic peak windows (5 PM – 9 PM).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flat-rate tariffs fail to disincentivize peak usage or encourage off-peak charging.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distribution transformer saturation, localized voltage sags, and feeder trip faults.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06824" y="1325880"/>
            <a:ext cx="3575304" cy="4800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FRAUD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35424" y="19659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Centralized Trust &amp; Telemetry Spoofing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35424" y="2560320"/>
            <a:ext cx="31181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charging operators enforce proprietary, opaque billing algorithms with zero auditability.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35424" y="3429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8304" y="3429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to compromised or rogue IoT endpoints injecting falsified (under-reported) Watt-hour readings.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35424" y="4114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4114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automated, low-latency telemetry verification prior to financial settlement.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0728" y="1325880"/>
            <a:ext cx="3575304" cy="4800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40112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LOSS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39328" y="19659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Double-Booking &amp; Slot Hoarding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39328" y="2560320"/>
            <a:ext cx="31181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22208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app-based reservation systems suffer from database race conditions and sync delays.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39328" y="3429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22208" y="3429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encounter physical slot collisions, plug hogging, and unutilized idle charging slots.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39328" y="4114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22208" y="4114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cryptographic atomic time-slot locking mechanisms.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PROJECT VALUE &amp;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and Significance: Empowering Sustainable Web3 Mobility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91440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Transforming Electric Vehicle Charging from a centralized, vulnerable grid burden into a decentralized, self-balancing transactive microgrid ecosystem powered by cryptographic trust.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575304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SECURITY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Microgrid Resiliency &amp; Peak Shaving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transformer degradation by shifting load dynamically through algorithmic pricing markups during peak windows and discounts for off-peak periods.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5349240"/>
            <a:ext cx="3118104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3492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+30% Peak Shifting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06824" y="2468880"/>
            <a:ext cx="3575304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65176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P2P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35424" y="29260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Crypto-Economic Trust &amp; Disintermediation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35424" y="3520440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high-fee centralized aggregators (15–30% platform cut) with atomic Ethereum smart contracts, enabling peer-to-peer station sharing with direct ETH settlement.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35424" y="5349240"/>
            <a:ext cx="3118104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53492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 Intermediary Fee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0728" y="2468880"/>
            <a:ext cx="3575304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65176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DECARBONIZATION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39328" y="29260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 Energy Monetization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39328" y="3520440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couples local rooftop solar/wind generation ratios to charging tariffs, providing automated discounts (up to 50%) to EV drivers consuming clean energy.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39328" y="5349240"/>
            <a:ext cx="3118104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53492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50% Green Discount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EMPIRICAL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Evidence Supporting the EV Charging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31536" cy="2240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+35% to +68%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37560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Peak Overload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suburban EV charging clusters overload standard 100kVA municipal distribution transformers, accelerating thermal aging and failure by 3.2x.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4882896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Renewable Energy Laboratory (NREL)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54496" y="1371600"/>
            <a:ext cx="5431536" cy="224028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20.8% - 25.4%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089136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Charger Failure 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28816" y="21488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 charging sessions fails due to payment processing crashes, communication timeouts, and unverified telemetry sync disconnects.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28816" y="3108960"/>
            <a:ext cx="4882896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154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J.D. Power U.S. EV Experience Study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5431536" cy="22402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7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 Peak Alignment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41148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Evening Load Coincidence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three-quarters of EV charging initiates between 17:00 and 21:00, directly compounding domestic heating/lighting grid spikes.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623560"/>
            <a:ext cx="488289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69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International Energy Agency (IEA) Global EV Outlook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4496" y="3886200"/>
            <a:ext cx="5431536" cy="22402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$1.8 Billion / yr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89136" y="41148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Meter &amp; Microgrid Tampering Loss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28816" y="46634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IoT telemetry packets and non-monotonic sensor manipulation create severe revenue leakage across microgrid power distributors.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28816" y="5623560"/>
            <a:ext cx="4882896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5669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Energy Council Smart Grid Assessment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ACADEMIC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Survey: Systematic Review of 10 Peer-Reviewed Papers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55680" cy="4937757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Ref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Paper Title &amp; Authors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Venue / Year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9A0"/>
                          </a:solidFill>
                        </a:rPr>
                        <a:t>Identified Limitation / Research Gap</a:t>
                      </a:r>
                      <a:endParaRPr lang="en-US" sz="9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P1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Transactive Energy Mgmt for EV Charging (Wang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Smart Grid (2023)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Consortium Blockchain + Smart Contracts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P2P local energy trading auction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Lacks real-time IoT telemetry fraud validation; energy spoofing risk.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P2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Dynamic ToU Pricing in Microgrids (Zhang &amp; Liu)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Applied Energy, Elsevier (2024)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Mixed-Integer Linear Prog. (MILP)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Transformer load co-optimization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Centralized server; high compute latency; no crypto settlement.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P3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ML-Based EV Demand Forecasting (Almaghrebi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Access (2022)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Deep Neural Networks (LSTM)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Spatial-temporal occupancy forecast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Heavy model; disconnected from on-chain slot reservation states.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P4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IoT Telemetry Security in Smart Grids (Kumar &amp; Saini)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ACM Trans. IoT (2023)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PKI X.509 Certificate Verif.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Cryptographic endpoint authentication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High CPU/network overhead for microcontrollers; no dynamic tariff.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P5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Battery Health Estimation in Fast Charge (Chen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Transport. (2025)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Impedance Spectroscopy (EIS)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Physics-informed battery degradation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Requires expensive lab hardware; cannot deploy in lightweight firmware.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P6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Smart Contract EV Slot Allocation (Hassija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IoT Journal (2021)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Solidity DAG Contracts on Ethereum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Atomic reservation slot locking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Omits real-time physical power telemetry &amp; live renewable pricing.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P7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Microgrid Balancing via Game Theory (Rahman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Ind. Inf. (2024)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Stackelberg Game Equilibrium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Multi-station congestion pricing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Assumes truthful telemetry; fails under malicious sensor tampering.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P8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MQTT-Enabled Telemetry Ingestion (Silva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Computer Networks (2023)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Lightweight Broker QoS 1/2 Opt.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Sub-100ms IoT data pipeline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Communication pipeline only; lacks ML anomaly filters and billing.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P9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ML for Grid Anomaly Detection (Ozturk &amp; Erdem)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Electr. Power Sys. Res. (2022)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Random Forest + Isolation Forest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Power distribution log anomaly filter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Offline batch processing; no real-time stream check prior to escrow.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74B3"/>
                          </a:solidFill>
                        </a:rPr>
                        <a:t>P10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Tokenized Smart EV Charging (Baza et al.)</a:t>
                      </a:r>
                      <a:endParaRPr lang="en-US" sz="8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IEEE Trans. Veh. Tech. (2022)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ERC-20 + Off-chain State Channels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Instant micro-payments per kWh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</a:rPr>
                        <a:t>Static pricing; ignores peak-hour grid surcharges and solar ratios.</a:t>
                      </a:r>
                      <a:endParaRPr lang="en-US" sz="8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CRITICAL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 Identification: 5 Unresolved Industry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94360" cy="621792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435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Tariffs &amp; Zero Renewable Coupling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17099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enforce static flat rates, missing opportunities to incentivize EV charging during peak solar/wind generation.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15819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102352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463040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On-chain dynamic pricing model integrating renewable ratio discounts (up to 50%) and demand markups.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95144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32304"/>
            <a:ext cx="594360" cy="621792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3230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404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Telemetry Tampering &amp; Spoofing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71600" y="26791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 blindly ingest energy readings without validating physical electrical limits or monotonic accumulation.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25511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2386584"/>
            <a:ext cx="5102352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32304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4-rule real-time FastAPI anomaly detector screening 22kW capacity, voltage bounds, and energy drops.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64408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01568"/>
            <a:ext cx="594360" cy="621792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0156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374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Scalability vs. High-Speed IoT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71600" y="36484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3-second sensor packets directly on Ethereum is cost-prohibitive ($100s in gas per session) and causes network bottlenecks.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3355848"/>
            <a:ext cx="5102352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401568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Hybrid 5-tier architecture: high-frequency feeds stream off-chain via MQTT; only state proofs &amp; bills settle on-chain.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233672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70832"/>
            <a:ext cx="594360" cy="621792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7083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3434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Opaque Battery Degradation Awareness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371600" y="46177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chargers hide battery health impact, leaving drivers unaware of degradation caused by rapid thermal stress.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44897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46520" y="4325112"/>
            <a:ext cx="5102352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370832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Embedded heuristic State of Health (SoH) engine comparing historical charging rate curves.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202936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340096"/>
            <a:ext cx="594360" cy="621792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34009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71600" y="53126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Reservation Race Conditions &amp; Collisions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371600" y="55869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 database booking triggers double-booking collisions during network latency spikes, stranding EV drivers.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5458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46520" y="5294376"/>
            <a:ext cx="5102352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5340096"/>
            <a:ext cx="4828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Mitigation: Smart contract atomic time interval locking reverting overlapping bookings cryptographically.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PROJECT SCOPE &amp; 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of the Project: 5 Core Engineering Milestones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822960" cy="621792"/>
          </a:xfrm>
          <a:prstGeom prst="rect">
            <a:avLst/>
          </a:prstGeom>
          <a:solidFill>
            <a:srgbClr val="133B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4356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Decentralized State &amp; Atomic Slot 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70992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compile Ethereum Solidity smart contracts (EVCharging.sol) guaranteeing zero double-booking collisions, transparent station registration, and direct P2P ETH billing.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49640" y="1463040"/>
            <a:ext cx="2999232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508760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0" y="169164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Collision-Free On-Chain Execution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95144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32304"/>
            <a:ext cx="822960" cy="621792"/>
          </a:xfrm>
          <a:prstGeom prst="rect">
            <a:avLst/>
          </a:prstGeom>
          <a:solidFill>
            <a:srgbClr val="133B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3230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4048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High-Frequency IoT Telemetry Ingestion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67919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Eclipse Mosquitto MQTT broker pipeline with Python digital twin station simulation, streaming real-time voltage, current, active kW, and cumulative Wh at 3s intervals.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2432304"/>
            <a:ext cx="2999232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478024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0" y="2660904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Sub-50ms Telemetry Message 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64408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01568"/>
            <a:ext cx="822960" cy="621792"/>
          </a:xfrm>
          <a:prstGeom prst="rect">
            <a:avLst/>
          </a:prstGeom>
          <a:solidFill>
            <a:srgbClr val="133B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0156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33741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Predictive Demand &amp; 4-Rule Fraud Detection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00200" y="364845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Python FastAPI microservice utilizing Scikit-Learn linear regression for campus occupancy forecasting and a 4-rule heuristic filter to identify anomalous/tampered telemetry.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49640" y="3401568"/>
            <a:ext cx="2999232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3447288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0" y="363016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0.84 &amp; 100% Anomaly Detection Accuracy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233672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70832"/>
            <a:ext cx="822960" cy="621792"/>
          </a:xfrm>
          <a:prstGeom prst="rect">
            <a:avLst/>
          </a:prstGeom>
          <a:solidFill>
            <a:srgbClr val="133B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7083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00200" y="4343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Grid Tariffs &amp; Renewable Incentives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00200" y="46177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and enforce an on-chain dynamic pricing algorithm factoring in Time-of-Use peak surcharges (+20-30%), demand level markups, and verified green energy discounts (up to 50%).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4370832"/>
            <a:ext cx="2999232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41655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0" y="459943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Bounded Rate Floor (≥ 1 Wei)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202936"/>
            <a:ext cx="11183112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340096"/>
            <a:ext cx="822960" cy="621792"/>
          </a:xfrm>
          <a:prstGeom prst="rect">
            <a:avLst/>
          </a:prstGeom>
          <a:solidFill>
            <a:srgbClr val="133B5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34009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 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00200" y="53126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Web3 Middleware &amp; Interactive UI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00200" y="558698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Node.js/Express gateway with real-time smart contract event listeners and a glassmorphic React 18 dashboard featuring live gauges, interactive maps, and MetaMask integration.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49640" y="5340096"/>
            <a:ext cx="2999232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538581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686800" y="556869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Web3 Wallet &amp; Sensor Synchronization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SOLUTION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 Overview: The VoltNet Unified Ecosystem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75304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3575304" cy="59436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^0.8.24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Layer (Trust &amp; Settlement)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Slot Booking: Cryptographic interval checks eliminate double-booking.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Rate Evaluator: Computes exact per-Wh billing rates transparently.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Escrow: Automatically transfers ETH payments directly to station hosts.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06824" y="1325880"/>
            <a:ext cx="3575304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325880"/>
            <a:ext cx="3575304" cy="594360"/>
          </a:xfrm>
          <a:prstGeom prst="rect">
            <a:avLst/>
          </a:prstGeom>
          <a:solidFill>
            <a:srgbClr val="2C74B3"/>
          </a:solidFill>
          <a:ln/>
        </p:spPr>
      </p:sp>
      <p:sp>
        <p:nvSpPr>
          <p:cNvPr id="16" name="Text 14"/>
          <p:cNvSpPr/>
          <p:nvPr/>
        </p:nvSpPr>
        <p:spPr>
          <a:xfrm>
            <a:off x="4489704" y="1371600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&amp; MOSQUITTO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9704" y="1554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Subsystem (Real-Time Telemetry)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9704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2103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Simulator: Emulates Level-2 charging (230V ±2V, 32A, 7.4 kW).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9704" y="2880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88036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MQTT Broker: Broadcasts 3-second sensor packets with QoS 0/1.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9704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365760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Session Cutoff: Reaches exact target Wh (250 Wh) and emits completion signal.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0728" y="1325880"/>
            <a:ext cx="3575304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1325880"/>
            <a:ext cx="357530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293608" y="1371600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SCIKIT-LEARN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1554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Microservice (Intelligence &amp; Security)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93608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22208" y="210312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Demand Predictor: Linear regression on 1,500 historical occupancy logs.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93608" y="2880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22208" y="288036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4-Rule Fraud Detector: Real-time checks on power, voltage, and monotonic Wh.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93608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22208" y="365760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SoH Estimator: Multi-session charging speed retention analysis.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349240"/>
            <a:ext cx="11183112" cy="86868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PIPELINE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7240" y="57150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 Web3 UI  ⇄  Node.js / Express Middleware  ⇄  FastAPI AI Anomaly Filter  ⇄  Mosquitto MQTT Stream  ⇄  Ethereum Smart Contract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KEY INNOVATIONS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Novelty of the Proposed Work: Algorithmic &amp; Architectural Edge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08676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4951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HIGHLIGHTS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Differentiators vs. State-of-the-Art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On-Chain Dynamic Tariff Formulation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peak Time-of-Use surcharges, occupancy level markup, and green energy discounts simultaneously in a single view call.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89864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4-Rule Serverless Telemetry 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3-second streaming telemetry against physical power caps (22kW), voltage bounds, and non-monotonic energy drops in &lt; 8ms.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557016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Cryptographic Double-Booking Lock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85616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interval collision algorithm reverts conflicting reservations instantly, solving mobile booking race conditions.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215384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Direct Renewable Price Subsidies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43984"/>
            <a:ext cx="47685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hosts with verified rooftop solar/wind pass dynamic algorithmic discounts (up to 50%) directly to EV drivers.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7356" y="1325880"/>
            <a:ext cx="5408676" cy="484632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1508760"/>
            <a:ext cx="48600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51676" y="17373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Dynamic Rate Formulation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1676" y="2194560"/>
            <a:ext cx="4860036" cy="685800"/>
          </a:xfrm>
          <a:prstGeom prst="rect">
            <a:avLst/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1676" y="219456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R(s, t) = B_s + P(t) + D(s) - S(s)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51676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B_s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28916" y="3017520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 Tariff set by host in Wei per Watt-hour.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1676" y="3364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P(t)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28916" y="3364992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Time-of-Use Peak Surcharge (+20% for 8–11h, +30% for 17–21h).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51676" y="3712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D(s)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28916" y="3712464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Markup: (B_s × DemandLevel) / 100 based on occupancy.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51676" y="4059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S(s)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28916" y="4059936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Discount: (B_s × RenewableRatio) / 200 (max 50% discount).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51676" y="4407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28916" y="440740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Anti-Exploitation Bounded Floor: Final Rate = max(1 Wei, R(s,t)).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ENGINEERING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Architecture: Decoupled 5-Tier Operating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8311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05840" cy="64008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389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Web3 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3720" y="1389888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Ethers.js v6 · Recharts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664208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Web3 dashboard with MetaMask wallet connection, interactive station map, live gauge telemetry meters, and slot booking modals.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118311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04872"/>
            <a:ext cx="1005840" cy="640080"/>
          </a:xfrm>
          <a:prstGeom prst="rect">
            <a:avLst/>
          </a:prstGeom>
          <a:solidFill>
            <a:srgbClr val="2C74B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0487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377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Gateway &amp; Event Sync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237744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· MongoDB Time-Series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651760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gateway orchestrating session workflows, Ethers contract event listeners (StationRegistered, ChargingEnded), and MongoDB persistence.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55264"/>
            <a:ext cx="1118311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92424"/>
            <a:ext cx="10058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9242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Predictive &amp; Telemetry Verification Microservice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36499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Scikit-Learn · Pandas · NumPy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639312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demand forecasting on campus logs, 4-rule real-time fraud filter, and battery State of Health (SoH) heuristic estimator.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242816"/>
            <a:ext cx="1118311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379976"/>
            <a:ext cx="1005840" cy="6400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7997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&amp;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4352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Telemetry Broker &amp; Digital Twin Simulator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4352544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(MQTT 1883) · Python Simulator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4626864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stochastic 230V ±2V, 32A, 7.4kW sensor payloads at 3s intervals; handles automated session completion upon reaching target Wh.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230368"/>
            <a:ext cx="1118311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367528"/>
            <a:ext cx="1005840" cy="640080"/>
          </a:xfrm>
          <a:prstGeom prst="rect">
            <a:avLst/>
          </a:prstGeom>
          <a:solidFill>
            <a:srgbClr val="133B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675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5340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Smart Contract Settlement Layer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5340096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^0.8.24 · Hardhat EVM Testnet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83080" y="561441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station registry, collision-free slot booking state machine, dynamic rate calculator, and trustless peer-to-peer ETH payment escrows.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OPERATIONAL 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Methodology: End-to-End Execution Pipeline &amp; Anomaly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21792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PIPELINE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Session Lifecycle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167128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Registration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24712" y="235000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Host registers station with geo-coordinates, base rate, &amp; solar/wind %.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" y="2587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Atomic Booking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471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reserves slot; contract validates (newStart &lt; existEnd &amp;&amp; newEnd &gt; existStart).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" y="30266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Session Start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" y="322783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plugs vehicle; contract emits ChargingStarted; IoT simulator wakes up.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483864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MQTT Stream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4712" y="366674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pushes {V, I, P, Wh} every 3s to Mosquitto broker (voltnet/session/+/telemetry).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922776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" y="3904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AI Verification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4712" y="410565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evaluates live packets against 4 deterministic anomaly rules in real time.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4361688"/>
            <a:ext cx="292608" cy="292608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Dynamic Billing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" y="454456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reached (250 Wh); contract computes dynamic Wei bill; driver settles via ETH.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95160" y="1325880"/>
            <a:ext cx="4690872" cy="484632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508760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173736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4-Rule Real-Time Fraud Heuristics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223760" y="2194560"/>
            <a:ext cx="4233672" cy="841248"/>
          </a:xfrm>
          <a:prstGeom prst="rect">
            <a:avLst/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26771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1: Zero-Time Energy Anomaly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31552" y="2267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CHECK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251460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duration ≤ 2.0s but reported energy &gt; 5.0 Wh.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23760" y="3127248"/>
            <a:ext cx="4233672" cy="841248"/>
          </a:xfrm>
          <a:prstGeom prst="rect">
            <a:avLst/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32004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2: Physical Power Limit Exceeded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31552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344728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active power &gt; 25,000 W (exceeds 22kW L2 max capacity).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4059936"/>
            <a:ext cx="4233672" cy="841248"/>
          </a:xfrm>
          <a:prstGeom prst="rect">
            <a:avLst/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41330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3: Non-Monotonic Telemetry Drop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31552" y="4133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437997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cumulative energy drops: E_t &lt; E_{t-1} - 1.0 Wh.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223760" y="4992624"/>
            <a:ext cx="4233672" cy="841248"/>
          </a:xfrm>
          <a:prstGeom prst="rect">
            <a:avLst/>
          </a:prstGeom>
          <a:solidFill>
            <a:srgbClr val="133B5C"/>
          </a:solidFill>
          <a:ln w="12700">
            <a:solidFill>
              <a:srgbClr val="2C74B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506577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4: Voltage Fault / Surge Bounds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31552" y="50657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SAFETY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0" y="5312664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if measured line voltage drops below 160V or exceeds 280V.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CURRENT STATUS &amp; BENCHMARKS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So Far: Review 1 Implementation Deliverables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Module / Deliverable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Artifact File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Technology Stack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9A0"/>
                          </a:solidFill>
                        </a:rPr>
                        <a:t>Empirical Result / Benchmark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Smart Contract Core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hardhat/contracts/EVCharging.sol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Solidity ^0.8.24 + Hardhat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8/8 Unit Tests Passed (1.42s execution)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IoT Hardware Simulator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iot/simulator.py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Python + Paho MQTT + Mosquitto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&lt; 45ms Telemetry Ingestion Latency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AI &amp; Fraud Microservice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ai/app.py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FastAPI + Scikit-Learn + Pandas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R² = 0.842 Demand Model; 100% Fraud Recall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Middleware Event Gateway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backend/server.js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Node.js + Express + MongoDB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Real-Time Contract Event Listeners Synced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Web3 Glassmorphic UI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C74B3"/>
                          </a:solidFill>
                        </a:rPr>
                        <a:t>frontend/src/App.jsx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React 18 + Vite + Ethers.js v6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Live Gauge Meters, Map Grid &amp; Web3 Wallet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100% COMPLETE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23360"/>
            <a:ext cx="5431536" cy="224028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16052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HARDHAT TEST SUITE (100% PASS)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1. Register station with valid parameters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464515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2. Revert registration if base price is zero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31520" y="485546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3. Update dynamic demand &amp; renewable parameters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31520" y="506577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4. Book charging slot successfully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527608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5. Revert overlapping booking (Double-booking lock)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31520" y="548640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6. Start charging &amp; transition state to Charging</a:t>
            </a:r>
            <a:endParaRPr lang="en-US" sz="850" dirty="0"/>
          </a:p>
        </p:txBody>
      </p:sp>
      <p:sp>
        <p:nvSpPr>
          <p:cNvPr id="4" name="Text 10"/>
          <p:cNvSpPr/>
          <p:nvPr/>
        </p:nvSpPr>
        <p:spPr>
          <a:xfrm>
            <a:off x="731520" y="569671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7. End charging &amp; calculate dynamic bill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1520" y="590702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8. Settle ETH payment directly to station owner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54496" y="4023360"/>
            <a:ext cx="5431536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3096" y="4160520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ROADMAP (PHASE 2 &amp; 3)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83096" y="448056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➔ Review 2 (Phase 2)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65976" y="468172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 Rollup (Polygon Amoy), Deep Q-Network (DQN) dynamic pricing, and Zero-Knowledge (ZK) telemetry proofs.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83096" y="521208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6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➔ Review 3 (Phase 3)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65976" y="541324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Multi-station digital twin scale-up (50+ sockets) and Progressive Web App (PWA) mobile QR station scanner.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VoltNet — Decentralized AI-Driven Smart EV Charging Infrastructure | Review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14432" y="6528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2780</Words>
  <Application>Microsoft Office PowerPoint</Application>
  <PresentationFormat>Widescreen</PresentationFormat>
  <Paragraphs>390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OMEN</cp:lastModifiedBy>
  <cp:revision>2</cp:revision>
  <dcterms:created xsi:type="dcterms:W3CDTF">2026-08-27T05:00:09Z</dcterms:created>
  <dcterms:modified xsi:type="dcterms:W3CDTF">2026-08-27T05:07:41Z</dcterms:modified>
</cp:coreProperties>
</file>